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91" r:id="rId7"/>
    <p:sldId id="283" r:id="rId8"/>
    <p:sldId id="286" r:id="rId9"/>
    <p:sldId id="287" r:id="rId10"/>
    <p:sldId id="290" r:id="rId11"/>
    <p:sldId id="288" r:id="rId12"/>
    <p:sldId id="293" r:id="rId13"/>
    <p:sldId id="294" r:id="rId14"/>
    <p:sldId id="292" r:id="rId15"/>
    <p:sldId id="295" r:id="rId16"/>
    <p:sldId id="289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00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17-Sep-24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17-Sep-24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01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46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1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47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981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02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34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82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2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89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arrie1/ecommerce-data/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500" y="3329790"/>
            <a:ext cx="11072190" cy="3200400"/>
          </a:xfrm>
        </p:spPr>
        <p:txBody>
          <a:bodyPr anchor="ctr"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dữ liệu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					         </a:t>
            </a:r>
            <a:r>
              <a:rPr lang="en-US" sz="1600" cap="none">
                <a:latin typeface="Times New Roman" panose="02020603050405020304" pitchFamily="18" charset="0"/>
                <a:cs typeface="Times New Roman" panose="02020603050405020304" pitchFamily="18" charset="0"/>
              </a:rPr>
              <a:t>Người thực hiện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Nguyễn Tùng Anh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Về DATASET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9801137" cy="3407051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Bộ dữ liệu của một công ty bán lẻ online tại Anh Quốc. Các giao dịch từ ngày 01/12/2010 đến ngày 09/12/2011.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Công ty chủ yếu bán quà tặng tất cả các dịp độc đáo. Nhiều khách hàng của công ty là người bán buôn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>
                <a:hlinkClick r:id="rId3"/>
              </a:rPr>
              <a:t>E-Commerce Data (kaggle.com)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340614" lvl="1" indent="-342900">
              <a:buFont typeface="+mj-lt"/>
              <a:buAutoNum type="arabicPeriod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Chân dung khách hàng</a:t>
            </a:r>
          </a:p>
          <a:p>
            <a:pPr marL="340614" lvl="1" indent="-342900">
              <a:buFont typeface="+mj-lt"/>
              <a:buAutoNum type="arabicPeriod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Thói quen mua hàng</a:t>
            </a:r>
          </a:p>
          <a:p>
            <a:pPr marL="340614" lvl="1" indent="-342900">
              <a:buFont typeface="+mj-lt"/>
              <a:buAutoNum type="arabicPeriod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Phân khúc khách hàng</a:t>
            </a:r>
          </a:p>
          <a:p>
            <a:pPr marL="340614" lvl="1" indent="-342900">
              <a:buFont typeface="+mj-lt"/>
              <a:buAutoNum type="arabicPeriod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Phân khúc sản phẩm</a:t>
            </a:r>
          </a:p>
          <a:p>
            <a:pPr marL="340614" lvl="1" indent="-342900">
              <a:buFont typeface="+mj-lt"/>
              <a:buAutoNum type="arabicPeriod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Xu hướng doanh thu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73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/>
              <a:t>1. Chân dung khách hàng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năm 2011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công ty tiếp cận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4255 khách hàng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Hơn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90%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đến từ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Anh Quốc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phần khách hàng còn lại chủ yếu đến từ châu Âu như Đức (2,18%), Pháp (2.04%)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Có những khách hàng khác ngoài Châu Âu nhưng ít, không đáng kể.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luận: Cần tập trung vào khách hàng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Anh Quốc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F88442-A1FB-AC45-06DB-03A4AF96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29" y="3234336"/>
            <a:ext cx="6876422" cy="3487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FCEFA-83F6-57ED-10C9-5FF65F739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833" y="136526"/>
            <a:ext cx="5602612" cy="309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Thói quen mua Hàng (</a:t>
            </a: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Theo giờ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Khung giờ từ 10 giờ đến 14 giờ là giờ chủ yếu khách hàng đặt đơn.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Cao điểm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nhất là từ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12 giờ đến 13 giờ.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luận: </a:t>
            </a:r>
          </a:p>
          <a:p>
            <a:pPr marL="569214"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Nếu sử dụng các chương trình như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gửi email, quảng cáo, khuyến mãi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.. Thì khung giờ thích hợp nhất sẽ là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12-14 giờ chiều </a:t>
            </a:r>
          </a:p>
          <a:p>
            <a:pPr marL="569214"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Nếu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bảo trì hệ thống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thì nên thực hiện vào khung giờ từ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21 giờ - 5 giờ sáng</a:t>
            </a:r>
          </a:p>
          <a:p>
            <a:pPr marL="569214" lvl="1">
              <a:buFont typeface="Courier New" panose="02070309020205020404" pitchFamily="49" charset="0"/>
              <a:buChar char="o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A6AC3-AE6C-76C8-D99F-A76B5F3D6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237" y="2000668"/>
            <a:ext cx="7550763" cy="3808325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3657095-0326-F064-E0ED-4C782B8ABF9C}"/>
              </a:ext>
            </a:extLst>
          </p:cNvPr>
          <p:cNvSpPr/>
          <p:nvPr/>
        </p:nvSpPr>
        <p:spPr>
          <a:xfrm rot="16200000">
            <a:off x="8170921" y="5384036"/>
            <a:ext cx="491394" cy="849913"/>
          </a:xfrm>
          <a:prstGeom prst="leftBrace">
            <a:avLst>
              <a:gd name="adj1" fmla="val 26695"/>
              <a:gd name="adj2" fmla="val 50000"/>
            </a:avLst>
          </a:prstGeom>
          <a:ln w="38100">
            <a:solidFill>
              <a:srgbClr val="C00000">
                <a:alpha val="41961"/>
              </a:srgb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6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Thói quen mua Hàng (</a:t>
            </a:r>
            <a:r>
              <a:rPr lang="en-US" cap="none">
                <a:latin typeface="Times New Roman" panose="02020603050405020304" pitchFamily="18" charset="0"/>
                <a:cs typeface="Times New Roman" panose="02020603050405020304" pitchFamily="18" charset="0"/>
              </a:rPr>
              <a:t>Theo thứ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 lnSpcReduction="10000"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Tăng dần từ thứ 2 đạt đỉnh điểm ở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thứ 5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sau đó giảm dần.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Riêng thứ 7 không ghi nhận đơn hàng nào trong cả năm (có thể do hệ thống không nhận đơn vào thứ 7 hoặc dữ liệu đã bị lọc)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luận: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Nếu sử dụng các chương trình như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gửi email, quảng cáo, khuyến mãi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.. Thì thích hợp áp dụng vào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thứ 3,4,5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D86ECF-95F0-1EEA-B32B-6339A6569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84" y="2109074"/>
            <a:ext cx="7075366" cy="359849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998FEB-B6F4-7543-423D-385994EB0D8D}"/>
              </a:ext>
            </a:extLst>
          </p:cNvPr>
          <p:cNvCxnSpPr>
            <a:cxnSpLocks/>
          </p:cNvCxnSpPr>
          <p:nvPr/>
        </p:nvCxnSpPr>
        <p:spPr>
          <a:xfrm flipV="1">
            <a:off x="5476352" y="2813049"/>
            <a:ext cx="3014505" cy="79430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83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Thói quen mua Hàng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230734"/>
            <a:ext cx="5434548" cy="4490739"/>
          </a:xfrm>
        </p:spPr>
        <p:txBody>
          <a:bodyPr>
            <a:normAutofit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Tỉ lệ khách hàng quay lại trung bình là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26% và  tương đối ổn định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Tỉ lệ khách hàng quay lại ở tháng thứ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[1,2,3,4,5] thấp hơn 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Tỉ lệ của tháng thứ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[6,7,8,9,10] cao hơn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Thời điểm </a:t>
            </a:r>
            <a:r>
              <a:rPr lang="en-US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4/2011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en-US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8/2011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tỉ lệ khách hàng quay lại của các tháng trước đó đều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thấp bất thường</a:t>
            </a:r>
          </a:p>
          <a:p>
            <a:pPr marL="569214" lvl="1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luận: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Điều tra nguyên nhân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khiến tỉ lệ ở tháng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4/2011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8/2011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bị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Từ đó tìm ra giải pháp khắc phục. Giúp giữ chân khách hàng tốt hơn</a:t>
            </a:r>
          </a:p>
          <a:p>
            <a:pPr lvl="1" indent="0">
              <a:buNone/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88DE2-4924-CBB6-BEF7-5B2C64112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128" y="0"/>
            <a:ext cx="6516292" cy="6858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E5EDC66-A8F6-9845-5E03-73FC973EE862}"/>
              </a:ext>
            </a:extLst>
          </p:cNvPr>
          <p:cNvSpPr/>
          <p:nvPr/>
        </p:nvSpPr>
        <p:spPr>
          <a:xfrm rot="2213245">
            <a:off x="7221750" y="1038932"/>
            <a:ext cx="373158" cy="4010599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8581AA-C5A1-189B-8D8F-4E0162A671FE}"/>
              </a:ext>
            </a:extLst>
          </p:cNvPr>
          <p:cNvSpPr/>
          <p:nvPr/>
        </p:nvSpPr>
        <p:spPr>
          <a:xfrm rot="2213245">
            <a:off x="6845631" y="98476"/>
            <a:ext cx="358404" cy="2509294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3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Phân khúc Khách hàng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Nhóm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Champions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chiếm tỉ lệ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doanh thu đứng đầu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vượt trội.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Tỉ lệ số lượng KH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chiếm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13.56%,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đứng thứ 2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trong các nhóm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và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người bán buôn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cũng thuộc nhóm khách hàng này.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Nhóm khách hàng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Unknown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là các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khách hàng vãng lai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Chưa ghi lại được thông tin nhưng mang lại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doanh số khá cao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Chỉ sau Chaimpions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87D0A0-66FA-3387-CF65-0F47DDD7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30" y="3933497"/>
            <a:ext cx="7555869" cy="29326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67481B-ACB1-FF26-C720-EA34C9414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132" y="24536"/>
            <a:ext cx="7555868" cy="390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4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Phân khúc Khách hàng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Việc chăm sóc khách hàng Champions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cần được tập trung và đặt lên hàng đầu.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Nâng cấp hệ thống hoặc tạo các chương trình khuyến mãi để dễ dàng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thu thập thông tin từ khách hàng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Phục vụ cho việc phân loại và CSKH.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87D0A0-66FA-3387-CF65-0F47DDD7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30" y="3933497"/>
            <a:ext cx="7555869" cy="29326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67481B-ACB1-FF26-C720-EA34C9414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132" y="24536"/>
            <a:ext cx="7555868" cy="390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634FF1-3425-AA09-1D6E-E1647CE10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92553"/>
              </p:ext>
            </p:extLst>
          </p:nvPr>
        </p:nvGraphicFramePr>
        <p:xfrm>
          <a:off x="177521" y="291404"/>
          <a:ext cx="11836957" cy="6350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807">
                  <a:extLst>
                    <a:ext uri="{9D8B030D-6E8A-4147-A177-3AD203B41FA5}">
                      <a16:colId xmlns:a16="http://schemas.microsoft.com/office/drawing/2014/main" val="2116916088"/>
                    </a:ext>
                  </a:extLst>
                </a:gridCol>
                <a:gridCol w="4660299">
                  <a:extLst>
                    <a:ext uri="{9D8B030D-6E8A-4147-A177-3AD203B41FA5}">
                      <a16:colId xmlns:a16="http://schemas.microsoft.com/office/drawing/2014/main" val="1284940154"/>
                    </a:ext>
                  </a:extLst>
                </a:gridCol>
                <a:gridCol w="5052851">
                  <a:extLst>
                    <a:ext uri="{9D8B030D-6E8A-4147-A177-3AD203B41FA5}">
                      <a16:colId xmlns:a16="http://schemas.microsoft.com/office/drawing/2014/main" val="2750616543"/>
                    </a:ext>
                  </a:extLst>
                </a:gridCol>
              </a:tblGrid>
              <a:tr h="318546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Customer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Actionable Tip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428513"/>
                  </a:ext>
                </a:extLst>
              </a:tr>
              <a:tr h="556227">
                <a:tc>
                  <a:txBody>
                    <a:bodyPr/>
                    <a:lstStyle/>
                    <a:p>
                      <a:r>
                        <a:rPr lang="en-US" sz="1200"/>
                        <a:t>Champions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Mua gần đây, mua thường xuyên và chi tiêu nhiều nhất!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Thưởng cho họ. Có thể là những người chấp nhận sản phẩm mới sớm. Sẽ quảng bá thương hiệu của bạn.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978304"/>
                  </a:ext>
                </a:extLst>
              </a:tr>
              <a:tr h="556227">
                <a:tc>
                  <a:txBody>
                    <a:bodyPr/>
                    <a:lstStyle/>
                    <a:p>
                      <a:r>
                        <a:rPr lang="en-US" sz="1200"/>
                        <a:t>Loyal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Chi tiêu tốt và thường xuyên với chúng tôi. Phản ứng tích cực với các chương trình khuyến mãi.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Bán thêm các sản phẩm giá trị cao hơn. Yêu cầu đánh giá. Tương tác với họ.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582428"/>
                  </a:ext>
                </a:extLst>
              </a:tr>
              <a:tr h="521257">
                <a:tc>
                  <a:txBody>
                    <a:bodyPr/>
                    <a:lstStyle/>
                    <a:p>
                      <a:r>
                        <a:rPr lang="en-US" sz="1200"/>
                        <a:t>Potential Loyalist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Khách hàng mới gần đây, đã chi tiêu một số tiền khá lớn và mua hàng nhiều hơn một lần.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Đề xuất chương trình thành viên/khách hàng thân thiết, giới thiệu các sản phẩm khác.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032618"/>
                  </a:ext>
                </a:extLst>
              </a:tr>
              <a:tr h="521257">
                <a:tc>
                  <a:txBody>
                    <a:bodyPr/>
                    <a:lstStyle/>
                    <a:p>
                      <a:r>
                        <a:rPr lang="en-US" sz="1200"/>
                        <a:t>Recent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Mua hàng gần nhất, nhưng không thường xuyên.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Cung cấp hỗ trợ giới thiệu, giúp họ có thành công sớm, bắt đầu xây dựng mối quan hệ.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859578"/>
                  </a:ext>
                </a:extLst>
              </a:tr>
              <a:tr h="521257">
                <a:tc>
                  <a:txBody>
                    <a:bodyPr/>
                    <a:lstStyle/>
                    <a:p>
                      <a:r>
                        <a:rPr lang="en-US" sz="1200"/>
                        <a:t>Promising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Khách hàng gần đây nhưng chưa chi tiêu nhiều.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Tạo nhận thức về thương hiệu, cung cấp các bản dùng thử miễn phí.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916041"/>
                  </a:ext>
                </a:extLst>
              </a:tr>
              <a:tr h="556227">
                <a:tc>
                  <a:txBody>
                    <a:bodyPr/>
                    <a:lstStyle/>
                    <a:p>
                      <a:r>
                        <a:rPr lang="en-US" sz="1200"/>
                        <a:t>Need 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Có giá trị cao về thời gian gần đây, tần suất và giá trị chi tiêu. Có thể chưa mua hàng gần đây.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Đưa ra các ưu đãi giới hạn thời gian, đề xuất dựa trên các giao dịch trước đây. Kích hoạt lại họ.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553835"/>
                  </a:ext>
                </a:extLst>
              </a:tr>
              <a:tr h="556227">
                <a:tc>
                  <a:txBody>
                    <a:bodyPr/>
                    <a:lstStyle/>
                    <a:p>
                      <a:r>
                        <a:rPr lang="en-US" sz="1200"/>
                        <a:t>About To Sleep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Giá trị thời gian gần đây, tần suất và giá trị chi tiêu thấp hơn mức trung bình. Sẽ mất họ nếu không kích hoạt lại.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Chia sẻ các tài nguyên có giá trị, giới thiệu các sản phẩm phổ biến/đổi mới với giá ưu đãi. Tái kết nối với họ.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987443"/>
                  </a:ext>
                </a:extLst>
              </a:tr>
              <a:tr h="521257">
                <a:tc>
                  <a:txBody>
                    <a:bodyPr/>
                    <a:lstStyle/>
                    <a:p>
                      <a:r>
                        <a:rPr lang="en-US" sz="1200"/>
                        <a:t>At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Chi tiêu lớn và mua sắm thường xuyên. Nhưng từ lâu rồi. Cần đưa họ quay lại!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Gửi email cá nhân hóa để tái kết nối, cung cấp các ưu đãi, cung cấp các tài nguyên hữu ích.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707440"/>
                  </a:ext>
                </a:extLst>
              </a:tr>
              <a:tr h="609620">
                <a:tc>
                  <a:txBody>
                    <a:bodyPr/>
                    <a:lstStyle/>
                    <a:p>
                      <a:r>
                        <a:rPr lang="en-US" sz="1200"/>
                        <a:t>Cannot Lose Them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Mua hàng nhiều nhất và thường xuyên. Nhưng không quay lại trong thời gian dài.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Đưa họ quay lại thông qua các chương trình gia hạn hoặc sản phẩm mới. Đừng để họ rời bỏ vì đối thủ. Nói chuyện với họ.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148947"/>
                  </a:ext>
                </a:extLst>
              </a:tr>
              <a:tr h="556227">
                <a:tc>
                  <a:txBody>
                    <a:bodyPr/>
                    <a:lstStyle/>
                    <a:p>
                      <a:r>
                        <a:rPr lang="en-US" sz="1200"/>
                        <a:t>Hibernating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Lần mua hàng cuối đã từ rất lâu, chi tiêu ít và số lượng đơn hàng thấp.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Cung cấp các sản phẩm khác liên quan và các chương trình khuyến mãi đặc biệt. Tái tạo lại giá trị thương hiệu.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152860"/>
                  </a:ext>
                </a:extLst>
              </a:tr>
              <a:tr h="556227">
                <a:tc>
                  <a:txBody>
                    <a:bodyPr/>
                    <a:lstStyle/>
                    <a:p>
                      <a:r>
                        <a:rPr lang="en-US" sz="1200"/>
                        <a:t>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Điểm thời gian gần đây, tần suất và giá trị chi tiêu thấp nhất.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200"/>
                        <a:t>Khơi dậy sự quan tâm bằng cách tiếp cận lại thông qua các chiến dịch, nếu không thì có thể bỏ qua.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56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452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Phân khúc sản phẩm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 lnSpcReduction="10000"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Giá càng rẻ doanh số càng cao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dưới 6 đô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chiếm gần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doanh số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luận: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quyết định mua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 sản phẩm giá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dưới 6 đô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dễ dàng hơn ở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nền tảng online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Nên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tối ưu giá thành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các sản phẩm hoặc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mở rộng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các mặt hàng ở phân khúc giá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dưới 6 đô.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BA7CD-A799-748E-B742-5FB28E6FD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742" y="1542565"/>
            <a:ext cx="7599257" cy="4043641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368215D0-AE8F-5310-DAEF-F7E5816AD25E}"/>
              </a:ext>
            </a:extLst>
          </p:cNvPr>
          <p:cNvSpPr/>
          <p:nvPr/>
        </p:nvSpPr>
        <p:spPr>
          <a:xfrm rot="16200000">
            <a:off x="6066280" y="4663368"/>
            <a:ext cx="491394" cy="1845676"/>
          </a:xfrm>
          <a:prstGeom prst="leftBrace">
            <a:avLst>
              <a:gd name="adj1" fmla="val 26695"/>
              <a:gd name="adj2" fmla="val 50000"/>
            </a:avLst>
          </a:prstGeom>
          <a:ln w="38100">
            <a:solidFill>
              <a:srgbClr val="C00000">
                <a:alpha val="41961"/>
              </a:srgb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E97B8-AC08-44F9-3909-27130BC782CC}"/>
              </a:ext>
            </a:extLst>
          </p:cNvPr>
          <p:cNvSpPr txBox="1"/>
          <p:nvPr/>
        </p:nvSpPr>
        <p:spPr>
          <a:xfrm>
            <a:off x="6033972" y="5831903"/>
            <a:ext cx="55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80%</a:t>
            </a:r>
          </a:p>
        </p:txBody>
      </p:sp>
    </p:spTree>
    <p:extLst>
      <p:ext uri="{BB962C8B-B14F-4D97-AF65-F5344CB8AC3E}">
        <p14:creationId xmlns:p14="http://schemas.microsoft.com/office/powerpoint/2010/main" val="238482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Phân khúc sản phẩm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rất ít sự thay đổi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về mặt tỉ trọng của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phân khúc giá theo mùa vụ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Dù vậy ở giai đoạn cuối năm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phân khúc giá cao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([6-16] đô) vẫn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tăng trưởng mạnh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Chuẩn bị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nguồn cung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hợp lí để tối ưu doanh thu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2CF55-E8EB-4F35-A496-428EDB26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952" y="633335"/>
            <a:ext cx="7569758" cy="512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40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5. Xu hướng doanh thu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0580" y="2813049"/>
            <a:ext cx="4441372" cy="3238499"/>
          </a:xfrm>
        </p:spPr>
        <p:txBody>
          <a:bodyPr>
            <a:normAutofit fontScale="92500" lnSpcReduction="10000"/>
          </a:bodyPr>
          <a:lstStyle/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Doanh số có xu hướng thấp ở đầu năm và tăng dần vào cuối năm. Có thể do các ngày lễ lớn như lễ </a:t>
            </a:r>
            <a:r>
              <a:rPr lang="en-US" b="1"/>
              <a:t>Halloween, Giáng sinh, Tết dương lịch..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9214"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luận: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Tập trung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nguồn lực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thu hút khách hàng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vào thời điểm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cuối năm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để tăng doanh thu</a:t>
            </a:r>
          </a:p>
          <a:p>
            <a:pPr marL="852678" lvl="2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ngày lễ lớn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để triển khai chương trình quảng cáo, khuyến mãi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649947-62E2-3786-937F-81AC44885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84" y="1446963"/>
            <a:ext cx="7063465" cy="41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94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/>
              <a:t>Thank for watching</a:t>
            </a:r>
            <a:br>
              <a:rPr lang="en-US"/>
            </a:b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bài làm còn nhiều sai sót và khuyết điểm em mong được anh chị góp ý ạ!!!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{718ABE7A-4AF2-4ACF-B905-C344A0C51E89}tf67328976_win32</Template>
  <TotalTime>1939</TotalTime>
  <Words>1313</Words>
  <Application>Microsoft Office PowerPoint</Application>
  <PresentationFormat>Widescreen</PresentationFormat>
  <Paragraphs>118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Tenorite</vt:lpstr>
      <vt:lpstr>Times New Roman</vt:lpstr>
      <vt:lpstr>Custom</vt:lpstr>
      <vt:lpstr>Phân tích dữ liệu                Người thực hiện: Nguyễn Tùng Anh</vt:lpstr>
      <vt:lpstr>Về DATASET</vt:lpstr>
      <vt:lpstr>Mục lục</vt:lpstr>
      <vt:lpstr>1. Chân dung khách hàng</vt:lpstr>
      <vt:lpstr>2. Thói quen mua Hàng (Theo giờ)</vt:lpstr>
      <vt:lpstr>2. Thói quen mua Hàng (Theo thứ)</vt:lpstr>
      <vt:lpstr>2. Thói quen mua Hàng</vt:lpstr>
      <vt:lpstr>3. Phân khúc Khách hàng</vt:lpstr>
      <vt:lpstr>3. Phân khúc Khách hàng</vt:lpstr>
      <vt:lpstr>PowerPoint Presentation</vt:lpstr>
      <vt:lpstr>4. Phân khúc sản phẩm</vt:lpstr>
      <vt:lpstr>4. Phân khúc sản phẩm</vt:lpstr>
      <vt:lpstr>5. Xu hướng doanh thu</vt:lpstr>
      <vt:lpstr>Thank for watching bài làm còn nhiều sai sót và khuyết điểm em mong được anh chị góp ý ạ!!!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sfsdf ádfdsf</dc:creator>
  <cp:lastModifiedBy>sfsdf ádfdsf</cp:lastModifiedBy>
  <cp:revision>62</cp:revision>
  <dcterms:created xsi:type="dcterms:W3CDTF">2024-08-31T08:42:42Z</dcterms:created>
  <dcterms:modified xsi:type="dcterms:W3CDTF">2024-09-17T11:26:19Z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